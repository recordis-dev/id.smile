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0F3E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365760"/>
            <a:ext cx="2926080" cy="2926080"/>
          </a:xfrm>
          <a:prstGeom prst="ellipse">
            <a:avLst/>
          </a:prstGeom>
          <a:ln w="19050">
            <a:solidFill>
              <a:srgbClr val="1D44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digital para Dr@s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8FB6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de ingreso digital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Smile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Ortodoncia · Cuernavaca, Morelos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2011680" cy="0"/>
          </a:xfrm>
          <a:prstGeom prst="line">
            <a:avLst/>
          </a:prstGeom>
          <a:noFill/>
          <a:ln w="31750">
            <a:solidFill>
              <a:srgbClr val="D25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892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Esbreidy Lugo Delgado · Odont. Benjamín Avendaño Peralta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por: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Flow Automation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agosto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MOTIVO DE CONSULTA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960120" cy="96012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4" name="Image 0" descr="icons/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9783" y="7525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i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“Publico en redes, me ven, y aun así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i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agenda no se llena sola.”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35204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queja más común en consultorios de ortodoncia con presencia activa en redes. No es un problema de esfuerzo ni de calidad clínica: es un problema de traducción. El trabajo clínico es excelente; el sistema que lo convierte en citas todavía no existe.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5020056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Mucho contenido, pocas citas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545896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esfuerzo de publicar no se refleja en pacientes nuevos agendados.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489204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8848" y="5020056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Preguntan precio y desaparecen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98848" y="545896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conversación se abre y se enfría sin seguimiento definido.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489204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47888" y="5020056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Compiten contra cadenas por precio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47888" y="545896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autoridad visible, el único diferenciador que percibe el paciente es cuánto cuesta.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EXPLORACIÓN POR CANAL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activos digitales, seis estados distintos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de escritorio, sin acceso privilegiado a las cuentas — cada hallazgo declara su nivel de confianza.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935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305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08A3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305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62072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Confirmado: el nombre mostrado ("ID Smile") no coincide con la URL (/ortodoncia.smile). Categoría configurada como blanqueamiento, no ortodoncia.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15968" y="1965960"/>
            <a:ext cx="35935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21305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08A32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1305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98848" y="251460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Reseñas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8848" y="2862072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 reseña, sin calificar, en Facebook. Referencia de sector: ≥30 reseñas, ≥4.8 estrellas.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083296" y="1965960"/>
            <a:ext cx="35935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21305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A6A70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1305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66176" y="251460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Business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2862072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localizó ficha propia de ID Smile en Google Maps — el canal de mayor peso en la decisión del paciente.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35935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A6A7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4498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@id.smiles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846320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pudo confirmar que pertenezca a esta clínica. Requiere verificación manual directa.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315968" y="3950208"/>
            <a:ext cx="35935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98848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2506B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98848" y="4498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 web propio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98848" y="4846320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localizado. Usan correo Gmail, no un dominio propio — sin destino que la clínica controle.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083296" y="3950208"/>
            <a:ext cx="35935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6176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A6A70"/>
          </a:solidFill>
          <a:ln/>
        </p:spPr>
      </p:sp>
      <p:sp>
        <p:nvSpPr>
          <p:cNvPr id="32" name="Text 30"/>
          <p:cNvSpPr/>
          <p:nvPr/>
        </p:nvSpPr>
        <p:spPr>
          <a:xfrm>
            <a:off x="8266176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66176" y="4498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/ seguimiento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66176" y="4846320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CRM ni tiempo de respuesta medido. El canal preferido del 93% de usuarios de internet en México.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DIAGNÓSTICO DIFERENCIAL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cuadros posibles, mismo síntoma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“Publico y no llegan pacientes” puede deberse a causas distintas — cada una con un tratamiento diferente.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BF1F0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9397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DDx-04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203911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Maloclusión de Marca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40680" y="203911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mostrado no coincide con la URL — la marca ya está fragmentada desde el propio canal.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469880" y="218541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2506B"/>
          </a:solidFill>
          <a:ln/>
        </p:spPr>
      </p:sp>
      <p:sp>
        <p:nvSpPr>
          <p:cNvPr id="10" name="Text 8"/>
          <p:cNvSpPr/>
          <p:nvPr/>
        </p:nvSpPr>
        <p:spPr>
          <a:xfrm>
            <a:off x="10469880" y="21854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BF1F0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6265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DDx-02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290779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 Clínica Silenciosa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29077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titulares con cédula y formación verificables, invisibles en el copy público del canal.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469880" y="305409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2506B"/>
          </a:solidFill>
          <a:ln/>
        </p:spPr>
      </p:sp>
      <p:sp>
        <p:nvSpPr>
          <p:cNvPr id="16" name="Text 14"/>
          <p:cNvSpPr/>
          <p:nvPr/>
        </p:nvSpPr>
        <p:spPr>
          <a:xfrm>
            <a:off x="10469880" y="30540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BF1F0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3133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DDx-03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377647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Anquilosis de Ficha Local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377647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ficha de Google gestionada — el activo de mayor peso en la decisión del paciente dental.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69880" y="392277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2506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69880" y="392277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BF1F0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70001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DDx-01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64515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Síndrome de Vitrina Social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464515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activa sin sitio propio confirmado ni mecanismo de captura medible.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469880" y="479145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2506B"/>
          </a:solidFill>
          <a:ln/>
        </p:spPr>
      </p:sp>
      <p:sp>
        <p:nvSpPr>
          <p:cNvPr id="28" name="Text 26"/>
          <p:cNvSpPr/>
          <p:nvPr/>
        </p:nvSpPr>
        <p:spPr>
          <a:xfrm>
            <a:off x="10469880" y="479145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56869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DDx-05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45920" y="55138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Fuga de Lead en Primera Cita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551383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suficiente para confirmar o descartar — pendiente de revisar la bandeja de WhatsApp.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469880" y="566013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0EBE3"/>
          </a:solidFill>
          <a:ln/>
        </p:spPr>
      </p:sp>
      <p:sp>
        <p:nvSpPr>
          <p:cNvPr id="34" name="Text 32"/>
          <p:cNvSpPr/>
          <p:nvPr/>
        </p:nvSpPr>
        <p:spPr>
          <a:xfrm>
            <a:off x="10469880" y="5660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ln w="19050">
            <a:solidFill>
              <a:srgbClr val="1D44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DIAGNÓSTICO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parcialmente confirmado con evidencia directa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Maloclusión de Marca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Autoridad Clínica Silenciosa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B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propia página de Facebook ya está fragmentada: se muestra como “ID Smile” pero vive en la URL /ortodoncia.smile, con apenas 1 reseña sin calificar. Detrás hay dos titulares con formación y cédula verificables que no aparecen mencionados en ese canal. La autoridad real existe; simplemente no está traducida a ningún activo digital que el paciente pueda encontrar y confiar antes de llamar.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440680"/>
            <a:ext cx="7863840" cy="0"/>
          </a:xfrm>
          <a:prstGeom prst="line">
            <a:avLst/>
          </a:prstGeom>
          <a:noFill/>
          <a:ln w="12700">
            <a:solidFill>
              <a:srgbClr val="1D44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577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DiagnosticaDoc · DDx-04 y DDx-02 confirmados · DDx-01 y DDx-03 en hipótesis reforzada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OPORTUNIDAD DE MERCADO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mercado grande, y ya competido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378,476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en Cuernavaca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09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1.97M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en Morelos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709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población usa internet en México (INEGI 2024)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709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usuarios se conecta desde smartphone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COMPETITIVO EN CUERNAVACA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0881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79476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Smile Cuernavaca®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37947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 directo consolidado: +20 años, +2,000 pacientes, ~70–80 reseñas en Google. No confundir con ID Smile.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10881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908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Dentalia (cadena nacional)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469087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 sucursales en México, presencia indexada en Cuernavaca. Compite con escala y marca reconocida.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495544"/>
            <a:ext cx="10881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58698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Moons (alineadores DTC)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558698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digital-nacional, ~30,000 pacientes tratados, sin sede confirmada en Cuernavaca — capta demanda invisible vía redes.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1996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INEGI Censo 2020 y ENDUTIH 2024; sitios públicos de Smile Cuernavaca, Dentalia y Moons. Ver expediente completo para metodología.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5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TRATAMIENTO (RX)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fases, el mismo orden que en boca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cierran espacios antes de nivelar, y no se invierte en pauta antes de tener a dónde mandar al paciente.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78608" cy="3520440"/>
          </a:xfrm>
          <a:prstGeom prst="roundRect">
            <a:avLst>
              <a:gd name="adj" fmla="val 2482"/>
            </a:avLst>
          </a:prstGeom>
          <a:solidFill>
            <a:srgbClr val="0F3E4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04872"/>
            <a:ext cx="594360" cy="594360"/>
          </a:xfrm>
          <a:prstGeom prst="ellipse">
            <a:avLst/>
          </a:prstGeom>
          <a:solidFill>
            <a:srgbClr val="D250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04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identidad y activar medición.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310128" y="2148840"/>
            <a:ext cx="2578608" cy="3520440"/>
          </a:xfrm>
          <a:prstGeom prst="roundRect">
            <a:avLst>
              <a:gd name="adj" fmla="val 2482"/>
            </a:avLst>
          </a:prstGeom>
          <a:solidFill>
            <a:srgbClr val="0F3E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38728" y="2404872"/>
            <a:ext cx="594360" cy="594360"/>
          </a:xfrm>
          <a:prstGeom prst="ellipse">
            <a:avLst/>
          </a:prstGeom>
          <a:solidFill>
            <a:srgbClr val="D2506B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2404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38728" y="32004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Nivelación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38728" y="38404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4–7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38728" y="420624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visible la autoridad real de la clínica.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71616" y="2148840"/>
            <a:ext cx="2578608" cy="3520440"/>
          </a:xfrm>
          <a:prstGeom prst="roundRect">
            <a:avLst>
              <a:gd name="adj" fmla="val 2482"/>
            </a:avLst>
          </a:prstGeom>
          <a:solidFill>
            <a:srgbClr val="0F3E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0216" y="2404872"/>
            <a:ext cx="594360" cy="594360"/>
          </a:xfrm>
          <a:prstGeom prst="ellipse">
            <a:avLst/>
          </a:prstGeom>
          <a:solidFill>
            <a:srgbClr val="D2506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216" y="2404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0216" y="32004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espacios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0216" y="38404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8–10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0216" y="420624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interés en citas confirmadas.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833104" y="2148840"/>
            <a:ext cx="2578608" cy="3520440"/>
          </a:xfrm>
          <a:prstGeom prst="roundRect">
            <a:avLst>
              <a:gd name="adj" fmla="val 2482"/>
            </a:avLst>
          </a:prstGeom>
          <a:solidFill>
            <a:srgbClr val="0F3E47"/>
          </a:solidFill>
          <a:ln/>
        </p:spPr>
      </p:sp>
      <p:sp>
        <p:nvSpPr>
          <p:cNvPr id="24" name="Shape 22"/>
          <p:cNvSpPr/>
          <p:nvPr/>
        </p:nvSpPr>
        <p:spPr>
          <a:xfrm>
            <a:off x="9061704" y="2404872"/>
            <a:ext cx="594360" cy="594360"/>
          </a:xfrm>
          <a:prstGeom prst="ellipse">
            <a:avLst/>
          </a:prstGeom>
          <a:solidFill>
            <a:srgbClr val="D2506B"/>
          </a:solidFill>
          <a:ln/>
        </p:spPr>
      </p:sp>
      <p:sp>
        <p:nvSpPr>
          <p:cNvPr id="25" name="Text 23"/>
          <p:cNvSpPr/>
          <p:nvPr/>
        </p:nvSpPr>
        <p:spPr>
          <a:xfrm>
            <a:off x="9061704" y="2404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61704" y="320040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Retención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61704" y="38404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11–12+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61704" y="420624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sistema siga produciendo sin esfuerzo manual.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· SEMANAS 1–3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588752" y="457200"/>
            <a:ext cx="960120" cy="96012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4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8383" y="70683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exista una sola clínica, encontrable y medible.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7406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Unificación de identidad: un solo nombre y datos idénticos en Facebook, Google y directorios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Google creada y optimizada: categoría correcta, horarios, 20 fotos y publicaciones iniciales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de 4 secciones con agendamiento directo por WhatsApp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configurado: catálogo, respuestas rápidas, mensaje de bienvenida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medición: clics a WhatsApp, llamadas y formularios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8160" y="2468880"/>
            <a:ext cx="3566160" cy="3383280"/>
          </a:xfrm>
          <a:prstGeom prst="roundRect">
            <a:avLst>
              <a:gd name="adj" fmla="val 1892"/>
            </a:avLst>
          </a:prstGeom>
          <a:solidFill>
            <a:srgbClr val="14515C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LA FASE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66760" y="3017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base establecida en los 6 signos vitales digitales.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66760" y="4709160"/>
            <a:ext cx="2880360" cy="0"/>
          </a:xfrm>
          <a:prstGeom prst="line">
            <a:avLst/>
          </a:prstGeom>
          <a:noFill/>
          <a:ln w="12700">
            <a:solidFill>
              <a:srgbClr val="2A6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de 4 · Semanas 1–3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 · SEMANAS 4–7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588752" y="457200"/>
            <a:ext cx="960120" cy="96012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4" name="Image 0" descr="icons/st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8383" y="70683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Nivelación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calidad clínica de ambos titulares sea evidente antes de la primera consulta.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7406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reseñas: código QR en consultorio y secuencia de solicitud posterior a la cita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piezas de contenido educativo con guion y calendario — el formato más seguro ante COFEPRIS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casos antes/después con consentimiento informado específico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autoridad: formación, cédula y certificaciones en lenguaje de paciente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Doctoralia y Top Doctors completos y consistentes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8160" y="2468880"/>
            <a:ext cx="3566160" cy="3383280"/>
          </a:xfrm>
          <a:prstGeom prst="roundRect">
            <a:avLst>
              <a:gd name="adj" fmla="val 1892"/>
            </a:avLst>
          </a:prstGeom>
          <a:solidFill>
            <a:srgbClr val="14515C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LA FASE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66760" y="3017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Reseñas nuevas por mes y calificación promedio.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66760" y="4709160"/>
            <a:ext cx="2880360" cy="0"/>
          </a:xfrm>
          <a:prstGeom prst="line">
            <a:avLst/>
          </a:prstGeom>
          <a:noFill/>
          <a:ln w="12700">
            <a:solidFill>
              <a:srgbClr val="2A6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de 4 · Semanas 4–7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 · SEMANAS 8–10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588752" y="457200"/>
            <a:ext cx="960120" cy="96012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4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8383" y="70683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espacios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interés existente en citas confirmadas y asistidas.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7406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por tratamiento: brackets, alineadores y ortodoncia infantil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cotización y manejo de objeción de precio, calibrado con precios de mercado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seguimiento a 72 horas para quien pregunta y no agenda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automático de cita — reduce el no-show hasta 20–35% según el sector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búsqueda con presupuesto de prueba y seguimiento de conversión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8160" y="2468880"/>
            <a:ext cx="3566160" cy="3383280"/>
          </a:xfrm>
          <a:prstGeom prst="roundRect">
            <a:avLst>
              <a:gd name="adj" fmla="val 1892"/>
            </a:avLst>
          </a:prstGeom>
          <a:solidFill>
            <a:srgbClr val="14515C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LA FASE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66760" y="3017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Citas agendadas, tasa de asistencia y costo por cita.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66760" y="4709160"/>
            <a:ext cx="2880360" cy="0"/>
          </a:xfrm>
          <a:prstGeom prst="line">
            <a:avLst/>
          </a:prstGeom>
          <a:noFill/>
          <a:ln w="12700">
            <a:solidFill>
              <a:srgbClr val="2A6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de 4 · Semanas 8–10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4 · SEMANAS 11–12 Y CONTINUO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588752" y="457200"/>
            <a:ext cx="960120" cy="96012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4" name="Image 0" descr="icons/tren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8383" y="70683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Retención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sistema siga produciendo pacientes sin depender de esfuerzo manual.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7406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pacientes ordenada con etapa de tratamiento y origen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reactivación a pacientes que no completaron valoración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referidos con incentivo definido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KPIs en vivo y reporte mensual de una página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 1 hora al equipo sobre el proceso completo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8160" y="2468880"/>
            <a:ext cx="3566160" cy="3383280"/>
          </a:xfrm>
          <a:prstGeom prst="roundRect">
            <a:avLst>
              <a:gd name="adj" fmla="val 1892"/>
            </a:avLst>
          </a:prstGeom>
          <a:solidFill>
            <a:srgbClr val="14515C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LA FASE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66760" y="3017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Referidos, reactivaciones y costo de adquisición por paciente.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66760" y="4709160"/>
            <a:ext cx="2880360" cy="0"/>
          </a:xfrm>
          <a:prstGeom prst="line">
            <a:avLst/>
          </a:prstGeom>
          <a:noFill/>
          <a:ln w="12700">
            <a:solidFill>
              <a:srgbClr val="2A6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de 4 · Semanas 11–12 y continuo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 · CRONOGRAMA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semanas, con entregable verificable cada semana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3474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4340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5206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6938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7804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8670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0402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1268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1340" y="160020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0848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· Alineación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926080" y="2103120"/>
            <a:ext cx="8503920" cy="411480"/>
          </a:xfrm>
          <a:prstGeom prst="roundRect">
            <a:avLst>
              <a:gd name="adj" fmla="val 8889"/>
            </a:avLst>
          </a:prstGeom>
          <a:solidFill>
            <a:srgbClr val="F0EBE3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2103120"/>
            <a:ext cx="2125980" cy="411480"/>
          </a:xfrm>
          <a:prstGeom prst="roundRect">
            <a:avLst>
              <a:gd name="adj" fmla="val 8889"/>
            </a:avLst>
          </a:prstGeom>
          <a:solidFill>
            <a:srgbClr val="1451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99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· Nivelación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26080" y="3017520"/>
            <a:ext cx="8503920" cy="411480"/>
          </a:xfrm>
          <a:prstGeom prst="roundRect">
            <a:avLst>
              <a:gd name="adj" fmla="val 8889"/>
            </a:avLst>
          </a:prstGeom>
          <a:solidFill>
            <a:srgbClr val="F0EBE3"/>
          </a:solidFill>
          <a:ln/>
        </p:spPr>
      </p:sp>
      <p:sp>
        <p:nvSpPr>
          <p:cNvPr id="21" name="Shape 19"/>
          <p:cNvSpPr/>
          <p:nvPr/>
        </p:nvSpPr>
        <p:spPr>
          <a:xfrm>
            <a:off x="5052060" y="3017520"/>
            <a:ext cx="2834640" cy="411480"/>
          </a:xfrm>
          <a:prstGeom prst="roundRect">
            <a:avLst>
              <a:gd name="adj" fmla="val 8889"/>
            </a:avLst>
          </a:prstGeom>
          <a:solidFill>
            <a:srgbClr val="2E9AA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13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· Cierre de espacios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926080" y="3931920"/>
            <a:ext cx="8503920" cy="411480"/>
          </a:xfrm>
          <a:prstGeom prst="roundRect">
            <a:avLst>
              <a:gd name="adj" fmla="val 8889"/>
            </a:avLst>
          </a:prstGeom>
          <a:solidFill>
            <a:srgbClr val="F0EBE3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6700" y="3931920"/>
            <a:ext cx="2125980" cy="411480"/>
          </a:xfrm>
          <a:prstGeom prst="roundRect">
            <a:avLst>
              <a:gd name="adj" fmla="val 8889"/>
            </a:avLst>
          </a:prstGeom>
          <a:solidFill>
            <a:srgbClr val="D2506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28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 · Retención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926080" y="4846320"/>
            <a:ext cx="8503920" cy="411480"/>
          </a:xfrm>
          <a:prstGeom prst="roundRect">
            <a:avLst>
              <a:gd name="adj" fmla="val 8889"/>
            </a:avLst>
          </a:prstGeom>
          <a:solidFill>
            <a:srgbClr val="F0EB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12680" y="484632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08A3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MEDICIÓN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indicador de vanidad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KPI se conecta con una decisión concreta: subir presupuesto, cambiar mensaje o corregir el proceso de la recepción.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5204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04872"/>
            <a:ext cx="640080" cy="64008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7" name="Image 0" descr="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57129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en el paquete local de Google para "ortodoncista Cuernavaca".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2148840"/>
            <a:ext cx="2606040" cy="35204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404872"/>
            <a:ext cx="640080" cy="64008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12" name="Image 1" descr="icons/st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257129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36576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nuevas por mes y calificación promedio. Ref. sector ≥4.8.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2148840"/>
            <a:ext cx="2606040" cy="35204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2404872"/>
            <a:ext cx="640080" cy="64008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17" name="Image 2" descr="icons/mess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257129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55080" y="36576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1ª respuesta en WhatsApp. El de mayor apalancamiento: meta &lt;15 min.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15400" y="2148840"/>
            <a:ext cx="2606040" cy="35204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FD8C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0" y="2404872"/>
            <a:ext cx="640080" cy="640080"/>
          </a:xfrm>
          <a:prstGeom prst="ellipse">
            <a:avLst/>
          </a:prstGeom>
          <a:solidFill>
            <a:srgbClr val="14515C"/>
          </a:solidFill>
          <a:ln/>
        </p:spPr>
      </p:sp>
      <p:pic>
        <p:nvPicPr>
          <p:cNvPr id="22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421" y="257129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0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Negocio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44000" y="36576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Tratamientos iniciados y costo de adquisición por paciente.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5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mensual: los 3 números clave, contra el mes anterior y contra la línea base, en una sola página.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00400"/>
            <a:ext cx="5029200" cy="5029200"/>
          </a:xfrm>
          <a:prstGeom prst="ellipse">
            <a:avLst/>
          </a:prstGeom>
          <a:ln w="19050">
            <a:solidFill>
              <a:srgbClr val="1D44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minutos para completar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expediente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B9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capturas de la ficha de Google, la confirmación del Instagram y la bandeja de WhatsApp, este documento pasa de presuntivo a confirmado — y se entrega con las cifras reales de la clínica, sin costo.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4206240" cy="594360"/>
          </a:xfrm>
          <a:prstGeom prst="roundRect">
            <a:avLst>
              <a:gd name="adj" fmla="val 50769"/>
            </a:avLst>
          </a:prstGeom>
          <a:solidFill>
            <a:srgbClr val="D250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343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¿Le gustaría agendar una llamada?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5349240"/>
            <a:ext cx="7863840" cy="0"/>
          </a:xfrm>
          <a:prstGeom prst="line">
            <a:avLst/>
          </a:prstGeom>
          <a:noFill/>
          <a:ln w="12700">
            <a:solidFill>
              <a:srgbClr val="1D44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86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Flow Automation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· Dx digital para Dr@s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del Carmen, Quintana Roo · México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diagnosticadoc.com  ·  Dx digital para Dr@s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2026-08-12T21:19:27Z</dcterms:created>
  <dcterms:modified xsi:type="dcterms:W3CDTF">2026-08-12T21:19:27Z</dcterms:modified>
</cp:coreProperties>
</file>